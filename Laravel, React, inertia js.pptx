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0" d="100"/>
          <a:sy n="60" d="100"/>
        </p:scale>
        <p:origin x="1140" y="6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941942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00937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19DDDAD-3A71-4999-9149-9BAF4ED103A9}" type="datetimeFigureOut">
              <a:rPr lang="en-US"/>
              <a:t>12/30/2024</a:t>
            </a:fld>
            <a:endParaRPr lang="en-US"/>
          </a:p>
        </p:txBody>
      </p:sp>
      <p:sp>
        <p:nvSpPr>
          <p:cNvPr id="171940616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830017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0901744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11326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5CF76C5-05D6-4FC2-9BD7-C3E9E7D62AD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870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5410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01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7F71AC-45A0-DB0F-1E37-2FC54CB23C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434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9369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85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BC517B-82B6-7BCB-EA80-FBA3F03231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733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2577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Laravel je jedan od najpopularnijih PHP framework-a na svetu, a mnogi ga smatraju i najboljim izborom za razvoj web aplikacija u PHP-u.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Kreiran je 2011. godine od strane Tejlora Otvela (Taylor Otwell), sa ciljem da pojednostavi razvoj web aplikacija i učini PHP programiranje elegantnijim i prijatnijim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Šta je zapravo framework?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Framework možemo zamisliti kao skelet ili kostur aplikacije - on nam pruža gotovu strukturu i alate, tako da ne moramo sve pisati od nule. 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Umesto da svaki put iznova pišemo kod za povezivanje sa bazom podataka, autentifikaciju korisnika ili rutiranje - Laravel nam to daje gotovo, a mi se fokusiramo na poslovnu logiku naše aplikacije.Zašto baš PHP?PHP je i dalje jedan od najkorišćenijih jezika za web development.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Pokreće preko 75% svih web sajtova, uključujući gigante poput Facebook-a i Wikipedia-e. 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Laravel je taj koji je PHP učinio modernim i konkurentnim u odnosu na novije tehnologije.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MVC arhitekturaLaravel koristi MVC obrazac - Model-View-Controller.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Ukratko: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Model predstavlja podatke i poslovnu logiku (npr. rad sa bazom)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View je ono što korisnik vidi - korisnički interfejs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Controller je posrednik koji prima zahteve, obrađuje ih i vraća odgovor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Ova separacija čini kod organizovanijim, lakšim za održavanje i testiranje.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Kada radite u timu, jedan programer može raditi na izgledu, drugi na logici - bez konflikata.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Ključne karakteristike Laravel-a: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Eloquent ORM - omogućava rad sa bazom podataka kroz PHP objekte, bez pisanja SQL upita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Blade template engine - za kreiranje dinamičkih HTML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stranica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Artisan CLI - komandna linija za generisanje koda i automatizacijuUgrađena autentifikacija - login, registracija, reset lozinke - sve gotovo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Migracije - verzionisanje strukture baze podataka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 mom projektu, Laravel služi kao back-end - on upravlja bazom podataka, autentifikacijom i šalje podatke React-u kroz Inertia.js.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256477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5CF76C5-05D6-4FC2-9BD7-C3E9E7D62AD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92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13239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Sada prelazimo na React - JavaScript biblioteku koja predstavlja front-end deo naše aplikacije.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Šta je React?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React je JavaScript biblioteka za izgradnju korisničkih interfejsa, razvijena od strane Facebook-a, danas poznatog kao Meta. Prva verzija je objavljena 2013. godine, i od tada je React postao najpopularniji alat za front-end development.Važno je napomenuti da React tehnički nije framework, već biblioteka. Razlika je u tome što framework diktira strukturu cele aplikacije, dok biblioteka rešava jedan specifičan problem - u slučaju React-a, to je renderovanje korisničkog interfejsa.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Komponentni pristupOvo je srž React filozofije. Umesto da pišemo jedan veliki HTML fajl, mi aplikaciju delimo na manje, nezavisne komponente.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Na primer, u našoj RentalCarApp imamo komponente poput: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CarCard - prikazuje pojedinačni automobil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DateFilter - forma za izbor datuma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RentModal - prozor za potvrdu iznajmljivanja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Svaka komponenta ima svoju logiku, svoj izgled, i može se koristiti više puta. Ako želimo da promenimo kako izgleda kartica automobila - menjamo samo CarCard komponentu, a ta promena se automatski reflektuje svuda gde se ta komponenta koristi.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Virtual DOM - Zašto je React brz?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DOM, ili Document Object Model, je struktura HTML stranice u memoriji browsera. Direktna manipulacija DOM-om je spora operacija.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React rešava ovaj problem tako što održava svoju virtuelnu kopiju DOM-a u memoriji. Kada se podaci promene, React prvo ažurira Virtual DOM, zatim upoređuje staro i novo stanje, i na kraju ažurira samo one delove stvarnog DOM-a koji su se zaista promenili.Zamislite to ovako: umesto da prefarbate celu sobu kada želite da promenite jednu sliku na zidu, vi samo zamenite tu sliku. To je suština Virtual DOM-a.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Deklarativni stil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 imperativnom programiranju mi kažemo računaru KAKO nešto da uradi, korak po korak. U deklarativnom, mi kažemo ŠTA želimo, a React se brine za implementaciju.Na primer, mi kažemo: "Prikaži listu automobila" - React odlučuje kako da to najefikasnije uradi.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Ekosistem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React je samo UI biblioteka, ali oko njega postoji ogroman ekosistem: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React Router za navigaciju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Redux ili Zustand za upravljanje stanjem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Axios ili Fetch za API pozive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 našem slučaju, Inertia.js preuzima mnoge od ovih odgovornosti, što dodatno pojednostavljuje razvoj.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Ko koristi React?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Facebook, Instagram, WhatsApp, Netflix, Airbnb, Uber, Twitter... Lista je ogromna. Ovo garantuje da React neće nestati sutra - ima dugogodišnju podršku i aktivnu zajednicu od miliona programera.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072407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5CF76C5-05D6-4FC2-9BD7-C3E9E7D62AD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341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584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Sada dolazimo do ključne tehnologije ovog projekta - Inertia.js. Ovo je zapravo razlog zašto smo ovde danas.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Šta je Inertia.js?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Inertia.js je framework koji se najbolje opisuje kao "lepak" između back-end-a i front-end-a. Kreirao ga je Džonatan Reinink (Jonathan Reinink) 2019. godine, upravo da reši problem sa kojim su se mnogi programeri susretali.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Koji problem rešava?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Zamislite klasičnu situaciju: imate Laravel aplikaciju i želite moderan, interaktivan interfejs kakav pruža React. Tradicionalno, imate dve opcije: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Prva opcija - potpuno odvojene aplikacije: Laravel služi samo kao API, React je potpuno odvojena aplikacija. To znači duple rute, dupla autentifikacija, CORS problemi, dva različita hosting-a...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Druga opcija - Blade sa malo JavaScript-a: Koristite Laravel Blade šablone i dodajete JavaScript gde treba. Ali tada gubite prednosti SPA - svaki klik osvežava celu stranicu.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Inertia.js nudi treću opciju - najbolje iz oba sveta.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Kako funkcioniše?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Inertia zamenjuje View sloj u Laravel-u. Umesto da kontroler vraća Blade šablon, on vraća React komponentu sa podacima.Kada korisnik klikne na link, Inertia presreće taj klik, šalje AJAX zahtev serveru, server vraća JSON sa imenom komponente i podacima, i Inertia renderuje novu komponentu - sve bez osvežavanja stranice.Spolja izgleda kao SPA, ali iznutra radi kao klasična server-side aplikacija.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Zašto "Glue" - lepak?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Jer Inertia sama po sebi ne radi ništa. Ona samo povezuje: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Na back-end strani: Laravel, Rails, Django...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Na front-end strani: React, Vue, Svelte...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Bez te dve strane, Inertia nema smisla. Ali kada ih povežete - dobijate moćnu kombinaciju.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SPA bez odvojenog API-ja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Ovo je najveća prednost. Ne morate pisati REST API. Ne morate brinuti o JWT tokenima. Ne morate duplirati validaciju. Koristite Laravel sesije, middleware, form request validaciju - sve kao da pravite klasičnu aplikaciju.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SEO i SSR podrška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Jedan od problema klasičnih SPA aplikacija je SEO - pretraživači teško indeksiraju JavaScript aplikacije. Inertia podržava Server-Side Rendering, što rešava ovaj problem. Prva stranica se renderuje na serveru, a dalja navigacija ide kroz JavaScript.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Brzina razvoja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Ovo je ono što ćemo demonstrirati u nastavku. Umesto 30 linija koda za jedan API poziv, sa Inertia.js to radimo u 3-5 linija. Manje koda znači manje grešaka, brži razvoj i lakše održavanje.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25676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5CF76C5-05D6-4FC2-9BD7-C3E9E7D62AD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884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3406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Sada ćemo pogledati kako se Inertia.js konkretno implementira u kodu. Ovo što vidite na ekranu je app.jsx fajl - ulazna tačka naše React aplikacije.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Šta ovaj fajl radi?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Ovaj fajl je "most" koji povezuje Laravel sa React-om. Bez njega, Laravel ne bi znao kako da prikaže React komponente, a React ne bi znao kako da primi podatke od Laravel-a.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Hajde da prođemo kroz kod liniju po liniju: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Import sekcija (linije 1-5)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Prvo uvozimo potrebne biblioteke: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React - osnovna React biblioteka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createRoot iz react-dom/client - nova React 18 metoda za renderovanje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createInertiaApp - glavna Inertia funkcija koja sve povezuje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InertiaProgress - opcioni dodatak koji prikazuje loading bar na vrhu stranice dok se učitava nova stranica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createInertiaApp funkcija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Ovo je srce Inertia integracije. Prima objekat sa dva ključna parametra: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resolve funkcija:resolve: (name) =&gt; import(`./Pages/${name}`)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Ova funkcija govori Inertia-i gde da traži React komponente. Kada Laravel kaže "prikaži stranicu Home", ova funkcija će učitati fajl ./Pages/Home.jsx.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 je dinamički import - komponente se učitavaju samo kada su potrebne, što poboljšava performanse jer ne učitavamo celu aplikaciju odjednom.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setup funkcija:setup({ el, App, props })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Ova funkcija prima tri parametra: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el - DOM element gde će se React renderovati (obično div sa id="app")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App - Inertia wrapper komponenta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props - podaci koje je Laravel poslao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Unutar setup funkcije, mi kreiramo React koren i renderujemo aplikaciju: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const root = createRoot(el);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root.render(&lt;App {...props} /&gt;);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Šta su ti "props"?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Props su podaci koje Laravel kontroler šalje. Na primer, kada u Laravel-u napišemo: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return Inertia::render('Home', ['cars' =&gt; $cars]);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Ti cars podaci stižu ovde kao props i automatski se prosleđuju Home komponenti.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Zašto je ovo važno?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Ceo ovaj fajl ima samo 15-ak linija koda, a omogućava nam: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Automatsko učitavanje pravih komponenti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Automatsko prosleđivanje podataka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SPA navigaciju bez refresha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Progress bar prilikom učitavanja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Bez Inertia-e, morali bismo ručno da implementiramo React Router, fetch pozive, state management... Ovde je sve to apstrahovano u nekoliko linija.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503239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5CF76C5-05D6-4FC2-9BD7-C3E9E7D62AD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467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177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Evo konkretnog primera kako izgleda kod kada koristimo Inertia.js u praksi.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Ovo je handleRent funkcija - poziva se kada korisnik želi da iznajmi automobil.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Struktura funkcije: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Prvo imamo dve provere: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Da li je korisnik ulogovan (!auth.user)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Da li su izabrani datumi (!rentalDates.startDate || !rentalDates.endDate)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Ako nešto nedostaje, prikazujemo upozorenje i prekidamo funkciju.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Ključni deo - Inertia.post: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Inertia.post('/rent', {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       car_id: selectedCar.id,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         start_date: rentalDates.startDate,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         end_date: rentalDates.endDate,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                           });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 to je sve. Pet linija koda za kompletan HTTP POST zahtev.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Inertia automatski: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Dodaje CSRF token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Šalje podatke kao JSONObrađuje odgovor servera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Ažurira stranicu ako je potrebno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Prikazuje greške validacije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Na kraju pozivamo closeModal() da zatvorimo prozor za iznajmljivanje.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Poenta: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Obratite pažnju koliko je kod čist i čitljiv.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Nema try-catch blokova, nema ručnog parsiranja odgovora, nema brige o header-ima. 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Fokusiramo se samo na poslovnu logiku.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 sledećem slajdu ćemo videti kako bi isti ovaj kod izgledao bez Inertia.js - i razlika je drastična.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341314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5CF76C5-05D6-4FC2-9BD7-C3E9E7D62AD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248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7444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 sada pogledajte istu funkcionalnost - iznajmljivanje automobila - ali ovog puta bez Inertia.js, koristeći standardni Fetch API.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Prva stvar koju primećujete - kod je značajno duži. Umesto 5 linija za HTTP zahtev, sada imamo preko 25 linija.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Šta sve moramo ručno da radimo: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1. Async/await sintaksaFunkcija mora biti označena kao async jer koristimo await za čekanje odgovora servera.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2. Try-catch blokMoramo ručno da hvatamo greške. Ako nešto pođe po zlu - pad mreže, timeout, greška servera - bez try-catch aplikacija bi pukla.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3. Fetch konfiguracija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	const response = await fetch('/rent', 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		{method: 'POST',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		headers: {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			'Content-Type': 'application/json',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			'X-CSRF-TOKEN': document.querySelector('meta[name="csrf-token"]').getAttribute('content'),},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	body: JSON.stringify({ ... }),});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Moramo ručno da postavimo: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HTTP metodu (POST)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Content-Type header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CSRF token - i to ga moramo izvući iz meta taga u HTML-u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Body mora biti stringified JSON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4. Obrada odgovora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if (response.ok)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	 {// uspeh} 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else {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	const error = await response.json();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	// prikaz greške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}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Moramo ručno da proverimo da li je zahtev uspeo, da parsiramo JSON odgovor, da prikažemo odgovarajuću poruku.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5. Catch blok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	Na kraju hvatamo sve nepredviđene greške i prikazujemo generičku poruku.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Poređenje: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Inertia.js	Fetch API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~5 linija	~30 linija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Automatski CSRF	Ručno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Automatski error handling	Ručno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Čist kod	Boilerplate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Zamislite da imate 20 ovakvih funkcija u aplikaciji. Sa Inertia.js to je 100 linija koda. Sa Fetch API-jem - 600 linija.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A više koda znači više mesta za greške.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4226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02375-20A7-1CE7-D8C9-556A503E6E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045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76311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440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9F6A0C-8CD4-30C3-93A2-E674A569E5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911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9079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Preuzimanje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 </a:t>
            </a:r>
            <a:r>
              <a:rPr lang="en-US"/>
              <a:t>instaliranje</a:t>
            </a:r>
            <a:r>
              <a:rPr lang="en-US"/>
              <a:t> XAMPP </a:t>
            </a:r>
            <a:r>
              <a:rPr lang="en-US"/>
              <a:t>sa</a:t>
            </a:r>
            <a:r>
              <a:rPr lang="en-US"/>
              <a:t> </a:t>
            </a:r>
            <a:r>
              <a:rPr lang="en-US"/>
              <a:t>zvanicnog</a:t>
            </a:r>
            <a:r>
              <a:rPr lang="en-US"/>
              <a:t> </a:t>
            </a:r>
            <a:r>
              <a:rPr lang="en-US"/>
              <a:t>sajta</a:t>
            </a:r>
            <a:r>
              <a:rPr lang="en-US"/>
              <a:t> </a:t>
            </a:r>
            <a:r>
              <a:rPr lang="en-US"/>
              <a:t>i</a:t>
            </a:r>
            <a:r>
              <a:rPr lang="en-US"/>
              <a:t> </a:t>
            </a:r>
            <a:r>
              <a:rPr lang="en-US"/>
              <a:t>pokrenite</a:t>
            </a:r>
            <a:r>
              <a:rPr lang="en-US"/>
              <a:t> Apache </a:t>
            </a:r>
            <a:r>
              <a:rPr lang="en-US"/>
              <a:t>i</a:t>
            </a:r>
            <a:r>
              <a:rPr lang="en-US"/>
              <a:t> MySQL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it-IT"/>
              <a:t>Proveriti da li je Node.js i npm(Node Package Manager) instalirani:</a:t>
            </a:r>
            <a:endParaRPr lang="en-US"/>
          </a:p>
          <a:p>
            <a:pPr>
              <a:defRPr/>
            </a:pPr>
            <a:r>
              <a:rPr lang="en-US"/>
              <a:t>Ako ne </a:t>
            </a:r>
            <a:r>
              <a:rPr lang="en-US"/>
              <a:t>dobijete</a:t>
            </a:r>
            <a:r>
              <a:rPr lang="en-US"/>
              <a:t> </a:t>
            </a:r>
            <a:r>
              <a:rPr lang="en-US"/>
              <a:t>verziju</a:t>
            </a:r>
            <a:r>
              <a:rPr lang="en-US"/>
              <a:t>, </a:t>
            </a:r>
            <a:r>
              <a:rPr lang="en-US"/>
              <a:t>preuzmite</a:t>
            </a:r>
            <a:r>
              <a:rPr lang="en-US"/>
              <a:t> Node.js </a:t>
            </a:r>
            <a:r>
              <a:rPr lang="en-US"/>
              <a:t>sa</a:t>
            </a:r>
            <a:r>
              <a:rPr lang="en-US"/>
              <a:t> </a:t>
            </a:r>
            <a:r>
              <a:rPr lang="en-US"/>
              <a:t>zvanicnog</a:t>
            </a:r>
            <a:r>
              <a:rPr lang="en-US"/>
              <a:t> </a:t>
            </a:r>
            <a:r>
              <a:rPr lang="en-US"/>
              <a:t>sajta</a:t>
            </a:r>
            <a:endParaRPr lang="en-US"/>
          </a:p>
          <a:p>
            <a:pPr>
              <a:defRPr/>
            </a:pPr>
            <a:r>
              <a:rPr lang="en-US"/>
              <a:t>Potrebno</a:t>
            </a:r>
            <a:r>
              <a:rPr lang="en-US"/>
              <a:t> je </a:t>
            </a:r>
            <a:r>
              <a:rPr lang="en-US"/>
              <a:t>imati</a:t>
            </a:r>
            <a:r>
              <a:rPr lang="en-US"/>
              <a:t> </a:t>
            </a:r>
            <a:r>
              <a:rPr lang="en-US"/>
              <a:t>instaliran</a:t>
            </a:r>
            <a:r>
              <a:rPr lang="en-US"/>
              <a:t> </a:t>
            </a:r>
            <a:r>
              <a:rPr lang="en-US"/>
              <a:t>neki</a:t>
            </a:r>
            <a:r>
              <a:rPr lang="en-US"/>
              <a:t> code editor </a:t>
            </a:r>
            <a:r>
              <a:rPr lang="en-US"/>
              <a:t>kao</a:t>
            </a:r>
            <a:r>
              <a:rPr lang="en-US"/>
              <a:t> </a:t>
            </a:r>
            <a:r>
              <a:rPr lang="en-US"/>
              <a:t>sto</a:t>
            </a:r>
            <a:r>
              <a:rPr lang="en-US"/>
              <a:t> je Visual Studio code, </a:t>
            </a:r>
            <a:r>
              <a:rPr lang="en-US"/>
              <a:t>mozete</a:t>
            </a:r>
            <a:r>
              <a:rPr lang="en-US"/>
              <a:t> ga </a:t>
            </a:r>
            <a:r>
              <a:rPr lang="en-US"/>
              <a:t>preuzeti</a:t>
            </a:r>
            <a:r>
              <a:rPr lang="en-US"/>
              <a:t> </a:t>
            </a:r>
            <a:r>
              <a:rPr lang="en-US"/>
              <a:t>sa</a:t>
            </a:r>
            <a:r>
              <a:rPr lang="en-US"/>
              <a:t> </a:t>
            </a:r>
            <a:r>
              <a:rPr lang="en-US"/>
              <a:t>zvanicne</a:t>
            </a:r>
            <a:r>
              <a:rPr lang="en-US"/>
              <a:t> </a:t>
            </a:r>
            <a:r>
              <a:rPr lang="en-US"/>
              <a:t>stranice</a:t>
            </a:r>
            <a:endParaRPr lang="en-US"/>
          </a:p>
        </p:txBody>
      </p:sp>
      <p:sp>
        <p:nvSpPr>
          <p:cNvPr id="211977416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5CF76C5-05D6-4FC2-9BD7-C3E9E7D62AD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65264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3733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2061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97897D-83A2-434D-9CCF-315D4FDADA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3247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44893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30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1E2A2E-6938-707D-96CE-7F436220D6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585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413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Došli smo do kraja prezentacije, pa hajde da sumiramo sve što smo danas naučili.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Inertia.js vs Fetch API - konačni verdict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Kroz ovu prezentaciju i demo aplikaciju RentalCarApp, videli smo direktno poređenje dva pristupa. 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Rezultati su jasni: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Manje koda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Ovo nije samo kozmetička razlika. Videli smo da ista funkcionalnost zahteva 5 linija sa Inertia.js naspram 30 linija sa Fetch API-jem. 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 realnoj aplikaciji sa desetinama ili stotinama funkcija, ta razlika postaje ogromna. Manje koda znači manje багова, manje vremena za code review, i manje mesta gde nešto može poći po zlu.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Jednostavnost i funkcionalnost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Inertia.js nam omogućava da se fokusiramo na ono što je bitno - poslovnu logiku aplikacije. Ne gubimo vreme na konfiguraciju, CSRF tokene, parsiranje odgovora. Sve to radi framework umesto nas.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Brz razvoj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U svetu gde je "time to market" često ključan faktor, brzina razvoja je važna. Sa Inertia.js, možete napraviti funkcionalan MVP značajno brže nego sa tradicionalnim pristupom.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Lakše održavanje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Jedna kodna baza, poznati Laravel koncepti, manje koda za održavanje. Kada novi programer dođe na projekat, lakše će se snaći jer nema odvojenog API sloja koji mora da razume.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Kada izabrati Inertia.js?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Kada već koristite ili planirate da koristite Laravel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Kada pravite web aplikaciju (ne mobilnu)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Kada želite SPA iskustvo bez dodatne kompleksnosti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Kada vaš tim poznaje i PHP i JavaScript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Kada vam ne treba javni API za eksterne klijente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Kada ipak izabrati klasičan API pristup?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Kada vam treba isti backend za web i mobilnu aplikaciju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Kada front-end i back-end timovi rade potpuno odvojeno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Kada vam treba maksimalna fleksibilnost i kontrola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	Kada planirate mikroservisnu arhitekturu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Završna reč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Inertia.js nije "silver bullet" - nije rešenje za sve probleme. Ali za određenu kategoriju aplikacija - a to su Laravel web aplikacije sa React/Vue front-end-om - predstavlja izuzetno elegantno rešenje koje štedi vreme i smanjuje kompleksnost.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Nadam se da vam je ova prezentacija pokazala prednosti ovog pristupa i da ćete razmisliti o Inertia.js za vaš sledeći projekat.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Hvala na pažnji!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Da li ima pitanja?</a:t>
            </a:r>
            <a:endParaRPr lang="en-US" sz="12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354291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E5CF76C5-05D6-4FC2-9BD7-C3E9E7D62AD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880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6828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38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353F21-8BF8-2356-1A55-341760AF43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6582842" name="Picture 6" descr="C0-HD-BTM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128381353" name="Title 1"/>
          <p:cNvSpPr>
            <a:spLocks noGrp="1"/>
          </p:cNvSpPr>
          <p:nvPr>
            <p:ph type="ctrTitle"/>
          </p:nvPr>
        </p:nvSpPr>
        <p:spPr bwMode="auto">
          <a:xfrm>
            <a:off x="1371600" y="1803405"/>
            <a:ext cx="9448799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6857838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632201"/>
            <a:ext cx="9448799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1542544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909561" y="4314328"/>
            <a:ext cx="2910840" cy="374642"/>
          </a:xfrm>
        </p:spPr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167768615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1371600" y="4323845"/>
            <a:ext cx="6400800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160122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077200" y="1430866"/>
            <a:ext cx="2743200" cy="365125"/>
          </a:xfrm>
        </p:spPr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1306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33392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72684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14103315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750375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7767994" name="Picture 8" descr="C0-HD-BTM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131843726" name="Title 1"/>
          <p:cNvSpPr>
            <a:spLocks noGrp="1"/>
          </p:cNvSpPr>
          <p:nvPr>
            <p:ph type="title"/>
          </p:nvPr>
        </p:nvSpPr>
        <p:spPr bwMode="auto">
          <a:xfrm>
            <a:off x="685800" y="753533"/>
            <a:ext cx="10820398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30309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3852196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70974362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85800" y="381001"/>
            <a:ext cx="6991492" cy="36406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783778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862452" y="381000"/>
            <a:ext cx="643748" cy="365125"/>
          </a:xfrm>
        </p:spPr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9431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313587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0" y="2194559"/>
            <a:ext cx="5334000" cy="402412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757114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2194559"/>
            <a:ext cx="5334000" cy="402412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193747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7617885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62146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471177" name="Title 1"/>
          <p:cNvSpPr>
            <a:spLocks noGrp="1"/>
          </p:cNvSpPr>
          <p:nvPr>
            <p:ph type="title"/>
          </p:nvPr>
        </p:nvSpPr>
        <p:spPr bwMode="auto">
          <a:xfrm>
            <a:off x="2895600" y="762000"/>
            <a:ext cx="8610600" cy="129540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24971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147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5800" y="3132666"/>
            <a:ext cx="5311775" cy="3086019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7709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684653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3132666"/>
            <a:ext cx="5334000" cy="3086019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877226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38151024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44731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4024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659710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65280133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993439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31237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21597302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45208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908802" name="Title 1"/>
          <p:cNvSpPr>
            <a:spLocks noGrp="1"/>
          </p:cNvSpPr>
          <p:nvPr>
            <p:ph type="title"/>
          </p:nvPr>
        </p:nvSpPr>
        <p:spPr bwMode="auto"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5462828" name="Content Placeholder 2"/>
          <p:cNvSpPr>
            <a:spLocks noGrp="1"/>
          </p:cNvSpPr>
          <p:nvPr>
            <p:ph idx="1"/>
          </p:nvPr>
        </p:nvSpPr>
        <p:spPr bwMode="auto">
          <a:xfrm>
            <a:off x="4995582" y="746759"/>
            <a:ext cx="6510618" cy="5471925"/>
          </a:xfrm>
        </p:spPr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5939519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949321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17464337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82872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648091" name="Title 1"/>
          <p:cNvSpPr>
            <a:spLocks noGrp="1"/>
          </p:cNvSpPr>
          <p:nvPr>
            <p:ph type="title"/>
          </p:nvPr>
        </p:nvSpPr>
        <p:spPr bwMode="auto"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30656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653671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40897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16376542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95012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732358" name="Title 1"/>
          <p:cNvSpPr>
            <a:spLocks noGrp="1"/>
          </p:cNvSpPr>
          <p:nvPr>
            <p:ph type="title"/>
          </p:nvPr>
        </p:nvSpPr>
        <p:spPr bwMode="auto"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449717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42335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88040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7026177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1598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8818317" name="Picture 7" descr="C0-HD-BTM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68256640" name="Title 1"/>
          <p:cNvSpPr>
            <a:spLocks noGrp="1"/>
          </p:cNvSpPr>
          <p:nvPr>
            <p:ph type="title"/>
          </p:nvPr>
        </p:nvSpPr>
        <p:spPr bwMode="auto"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011352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24467" y="3649132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2201243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1703055095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685800" y="379941"/>
            <a:ext cx="699149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0236863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862452" y="381000"/>
            <a:ext cx="643748" cy="365125"/>
          </a:xfrm>
        </p:spPr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2213212" name="Picture 12" descr="C0-HD-BTM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967274748" name="Title 1"/>
          <p:cNvSpPr>
            <a:spLocks noGrp="1"/>
          </p:cNvSpPr>
          <p:nvPr>
            <p:ph type="title"/>
          </p:nvPr>
        </p:nvSpPr>
        <p:spPr bwMode="auto"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95450505" name="Text Placeholder 3"/>
          <p:cNvSpPr>
            <a:spLocks noGrp="1"/>
          </p:cNvSpPr>
          <p:nvPr>
            <p:ph type="body" sz="half" idx="13"/>
          </p:nvPr>
        </p:nvSpPr>
        <p:spPr bwMode="auto"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43051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836407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1349911938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685800" y="379941"/>
            <a:ext cx="699149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2670961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862452" y="381000"/>
            <a:ext cx="643748" cy="365125"/>
          </a:xfrm>
        </p:spPr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  <p:sp>
        <p:nvSpPr>
          <p:cNvPr id="718010347" name="TextBox 8"/>
          <p:cNvSpPr txBox="1"/>
          <p:nvPr/>
        </p:nvSpPr>
        <p:spPr bwMode="auto">
          <a:xfrm>
            <a:off x="476250" y="93345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737815711" name="TextBox 9"/>
          <p:cNvSpPr txBox="1"/>
          <p:nvPr/>
        </p:nvSpPr>
        <p:spPr bwMode="auto">
          <a:xfrm>
            <a:off x="10984230" y="270129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4351846" name="Picture 8" descr="C0-HD-BTM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661912472" name="Title 1"/>
          <p:cNvSpPr>
            <a:spLocks noGrp="1"/>
          </p:cNvSpPr>
          <p:nvPr>
            <p:ph type="title"/>
          </p:nvPr>
        </p:nvSpPr>
        <p:spPr bwMode="auto"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75942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5913407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868193272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685800" y="378883"/>
            <a:ext cx="699149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206059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862452" y="381000"/>
            <a:ext cx="643748" cy="365125"/>
          </a:xfrm>
        </p:spPr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38304" name="Title 1"/>
          <p:cNvSpPr>
            <a:spLocks noGrp="1"/>
          </p:cNvSpPr>
          <p:nvPr>
            <p:ph type="title"/>
          </p:nvPr>
        </p:nvSpPr>
        <p:spPr bwMode="auto">
          <a:xfrm>
            <a:off x="2895600" y="761999"/>
            <a:ext cx="8610599" cy="130386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50448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2202080"/>
            <a:ext cx="3456432" cy="617319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0303870" name="Text Placeholder 3"/>
          <p:cNvSpPr>
            <a:spLocks noGrp="1"/>
          </p:cNvSpPr>
          <p:nvPr>
            <p:ph type="body" sz="half" idx="15"/>
          </p:nvPr>
        </p:nvSpPr>
        <p:spPr bwMode="auto"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806466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8153252" name="Text Placeholder 3"/>
          <p:cNvSpPr>
            <a:spLocks noGrp="1"/>
          </p:cNvSpPr>
          <p:nvPr>
            <p:ph type="body" sz="half" idx="16"/>
          </p:nvPr>
        </p:nvSpPr>
        <p:spPr bwMode="auto"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4836621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8051799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13367997" name="Text Placeholder 3"/>
          <p:cNvSpPr>
            <a:spLocks noGrp="1"/>
          </p:cNvSpPr>
          <p:nvPr>
            <p:ph type="body" sz="half" idx="17"/>
          </p:nvPr>
        </p:nvSpPr>
        <p:spPr bwMode="auto"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8604790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25192688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8235774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 Picture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572375" name="Title 1"/>
          <p:cNvSpPr>
            <a:spLocks noGrp="1"/>
          </p:cNvSpPr>
          <p:nvPr>
            <p:ph type="title"/>
          </p:nvPr>
        </p:nvSpPr>
        <p:spPr bwMode="auto">
          <a:xfrm>
            <a:off x="2895600" y="762000"/>
            <a:ext cx="8610599" cy="129540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27887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6613841" name="Picture Placeholder 2"/>
          <p:cNvSpPr>
            <a:spLocks noChangeAspect="1" noGrp="1"/>
          </p:cNvSpPr>
          <p:nvPr>
            <p:ph type="pic" idx="15"/>
          </p:nvPr>
        </p:nvSpPr>
        <p:spPr bwMode="auto">
          <a:xfrm>
            <a:off x="688618" y="2362199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507187573" name="Text Placeholder 3"/>
          <p:cNvSpPr>
            <a:spLocks noGrp="1"/>
          </p:cNvSpPr>
          <p:nvPr>
            <p:ph type="body" sz="half" idx="18"/>
          </p:nvPr>
        </p:nvSpPr>
        <p:spPr bwMode="auto"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875670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5322959" name="Picture Placeholder 2"/>
          <p:cNvSpPr>
            <a:spLocks noChangeAspect="1" noGrp="1"/>
          </p:cNvSpPr>
          <p:nvPr>
            <p:ph type="pic" idx="21"/>
          </p:nvPr>
        </p:nvSpPr>
        <p:spPr bwMode="auto">
          <a:xfrm>
            <a:off x="4374263" y="2362199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48981749" name="Text Placeholder 3"/>
          <p:cNvSpPr>
            <a:spLocks noGrp="1"/>
          </p:cNvSpPr>
          <p:nvPr>
            <p:ph type="body" sz="half" idx="19"/>
          </p:nvPr>
        </p:nvSpPr>
        <p:spPr bwMode="auto"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6723311" name="Text Placeholder 4"/>
          <p:cNvSpPr>
            <a:spLocks noGrp="1"/>
          </p:cNvSpPr>
          <p:nvPr>
            <p:ph type="body" sz="quarter" idx="13"/>
          </p:nvPr>
        </p:nvSpPr>
        <p:spPr bwMode="auto"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8869572" name="Picture Placeholder 2"/>
          <p:cNvSpPr>
            <a:spLocks noChangeAspect="1" noGrp="1"/>
          </p:cNvSpPr>
          <p:nvPr>
            <p:ph type="pic" idx="22"/>
          </p:nvPr>
        </p:nvSpPr>
        <p:spPr bwMode="auto">
          <a:xfrm>
            <a:off x="8049855" y="2362199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013227410" name="Text Placeholder 3"/>
          <p:cNvSpPr>
            <a:spLocks noGrp="1"/>
          </p:cNvSpPr>
          <p:nvPr>
            <p:ph type="body" sz="half" idx="20"/>
          </p:nvPr>
        </p:nvSpPr>
        <p:spPr bwMode="auto"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2254825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1173632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013198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1481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75758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5800" y="2194559"/>
            <a:ext cx="10820400" cy="40241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3334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13741602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81355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914918" name="Picture 7" descr="C0-HD-BTM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17679620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448799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9805053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024466" y="745067"/>
            <a:ext cx="8204201" cy="3903133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421112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1324572744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85800" y="381000"/>
            <a:ext cx="6991492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791079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862452" y="381000"/>
            <a:ext cx="643748" cy="365125"/>
          </a:xfrm>
        </p:spPr>
        <p:txBody>
          <a:bodyPr/>
          <a:lstStyle/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0903277" name="Picture 6" descr="C0-HD-TOP.png"/>
          <p:cNvPicPr>
            <a:picLocks noChangeAspect="1"/>
          </p:cNvPicPr>
          <p:nvPr/>
        </p:nvPicPr>
        <p:blipFill rotWithShape="1">
          <a:blip r:embed="rId19"/>
          <a:stretch/>
        </p:blipFill>
        <p:spPr bwMode="auto">
          <a:xfrm>
            <a:off x="0" y="0"/>
            <a:ext cx="12192000" cy="1441449"/>
          </a:xfrm>
          <a:prstGeom prst="rect">
            <a:avLst/>
          </a:prstGeom>
        </p:spPr>
      </p:pic>
      <p:sp>
        <p:nvSpPr>
          <p:cNvPr id="1351882220" name="Title Placeholder 1"/>
          <p:cNvSpPr>
            <a:spLocks noGrp="1"/>
          </p:cNvSpPr>
          <p:nvPr>
            <p:ph type="title"/>
          </p:nvPr>
        </p:nvSpPr>
        <p:spPr bwMode="auto"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7231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64912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58289FC-9CED-4AA1-8D79-25F916D6D237}" type="datetimeFigureOut">
              <a:rPr lang="en-US"/>
              <a:t>12/30/2024</a:t>
            </a:fld>
            <a:endParaRPr lang="en-US"/>
          </a:p>
        </p:txBody>
      </p:sp>
      <p:sp>
        <p:nvSpPr>
          <p:cNvPr id="1667316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576985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EFAECB4-F3D4-4786-99D5-79D51513B370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r" defTabSz="914400" rtl="0">
        <a:lnSpc>
          <a:spcPct val="90000"/>
        </a:lnSpc>
        <a:spcBef>
          <a:spcPts val="0"/>
        </a:spcBef>
        <a:buNone/>
        <a:defRPr sz="400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apachefriends.org/" TargetMode="External"/><Relationship Id="rId4" Type="http://schemas.openxmlformats.org/officeDocument/2006/relationships/hyperlink" Target="https://nodejs.org/en" TargetMode="External"/><Relationship Id="rId5" Type="http://schemas.openxmlformats.org/officeDocument/2006/relationships/hyperlink" Target="https://code.visualstudio.com/" TargetMode="External"/><Relationship Id="rId6" Type="http://schemas.openxmlformats.org/officeDocument/2006/relationships/hyperlink" Target="https://github.com/DejanCumpujerovic/RentalCarApp.git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etcomposer.org/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127.0.0.1:8000/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530695" name="Title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 algn="ctr">
              <a:defRPr/>
            </a:pPr>
            <a:r>
              <a:rPr lang="en-US" sz="4800" b="1">
                <a:latin typeface="Tw Cen MT"/>
              </a:rPr>
              <a:t>Laravel, React, inertia </a:t>
            </a:r>
            <a:r>
              <a:rPr lang="en-US" sz="4800" b="1">
                <a:latin typeface="Tw Cen MT"/>
              </a:rPr>
              <a:t>js</a:t>
            </a:r>
            <a:br>
              <a:rPr lang="en-US" sz="4800" b="1">
                <a:latin typeface="Tw Cen MT"/>
              </a:rPr>
            </a:br>
            <a:r>
              <a:rPr lang="en-US" sz="4800" b="1">
                <a:latin typeface="Tw Cen MT"/>
              </a:rPr>
              <a:t>RentalCarApp</a:t>
            </a:r>
            <a:endParaRPr lang="en-US" sz="4800" b="1">
              <a:latin typeface="Tw Cen MT"/>
            </a:endParaRPr>
          </a:p>
        </p:txBody>
      </p:sp>
      <p:sp>
        <p:nvSpPr>
          <p:cNvPr id="1532462490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632200"/>
            <a:ext cx="9448799" cy="1402644"/>
          </a:xfrm>
        </p:spPr>
        <p:txBody>
          <a:bodyPr>
            <a:normAutofit/>
          </a:bodyPr>
          <a:lstStyle/>
          <a:p>
            <a:pPr algn="r">
              <a:defRPr/>
            </a:pPr>
            <a:endParaRPr lang="sr-Latn-RS" sz="2400">
              <a:latin typeface="Times New Roman"/>
              <a:cs typeface="Times New Roman"/>
            </a:endParaRPr>
          </a:p>
          <a:p>
            <a:pPr algn="r">
              <a:defRPr/>
            </a:pPr>
            <a:r>
              <a:rPr lang="en-US" sz="2400">
                <a:latin typeface="Times New Roman"/>
                <a:cs typeface="Times New Roman"/>
              </a:rPr>
              <a:t>Napredno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softversko</a:t>
            </a:r>
            <a:r>
              <a:rPr lang="en-US" sz="2400">
                <a:latin typeface="Times New Roman"/>
                <a:cs typeface="Times New Roman"/>
              </a:rPr>
              <a:t> in</a:t>
            </a:r>
            <a:r>
              <a:rPr lang="sr-Latn-RS" sz="2400">
                <a:latin typeface="Times New Roman"/>
                <a:cs typeface="Times New Roman"/>
              </a:rPr>
              <a:t>ženjerstvo</a:t>
            </a:r>
            <a:endParaRPr/>
          </a:p>
          <a:p>
            <a:pPr algn="r">
              <a:defRPr/>
            </a:pPr>
            <a:r>
              <a:rPr lang="sr-Latn-RS" sz="2400">
                <a:latin typeface="Times New Roman"/>
                <a:cs typeface="Times New Roman"/>
              </a:rPr>
              <a:t>Dejan Čumpujerović, br. </a:t>
            </a:r>
            <a:r>
              <a:rPr lang="en-US" sz="2400">
                <a:latin typeface="Times New Roman"/>
                <a:cs typeface="Times New Roman"/>
              </a:rPr>
              <a:t>i</a:t>
            </a:r>
            <a:r>
              <a:rPr lang="sr-Latn-RS" sz="2400">
                <a:latin typeface="Times New Roman"/>
                <a:cs typeface="Times New Roman"/>
              </a:rPr>
              <a:t>ndeksa 1678</a:t>
            </a: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863817" name="Title 1"/>
          <p:cNvSpPr>
            <a:spLocks noGrp="1"/>
          </p:cNvSpPr>
          <p:nvPr>
            <p:ph type="title"/>
          </p:nvPr>
        </p:nvSpPr>
        <p:spPr bwMode="auto">
          <a:xfrm>
            <a:off x="685800" y="764373"/>
            <a:ext cx="10820400" cy="1293028"/>
          </a:xfrm>
        </p:spPr>
        <p:txBody>
          <a:bodyPr/>
          <a:lstStyle/>
          <a:p>
            <a:pPr algn="l">
              <a:defRPr/>
            </a:pPr>
            <a:r>
              <a:rPr lang="sr-Latn-RS" b="1">
                <a:latin typeface="Tw Cen MT"/>
              </a:rPr>
              <a:t>Sadržaj</a:t>
            </a:r>
            <a:endParaRPr lang="en-US" b="1">
              <a:latin typeface="Tw Cen MT"/>
            </a:endParaRPr>
          </a:p>
        </p:txBody>
      </p:sp>
      <p:sp>
        <p:nvSpPr>
          <p:cNvPr id="139459454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Laravel</a:t>
            </a:r>
            <a:endParaRPr/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React</a:t>
            </a:r>
            <a:endParaRPr/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Inertia js</a:t>
            </a:r>
            <a:endParaRPr/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Zašto koristiti Inertia js</a:t>
            </a:r>
            <a:endParaRPr/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Prednosti i mane Inertia js</a:t>
            </a:r>
            <a:endParaRPr/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Demonstracija projekta</a:t>
            </a:r>
            <a:endParaRPr/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Zaključak</a:t>
            </a: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704075" name="Title 1"/>
          <p:cNvSpPr>
            <a:spLocks noGrp="1"/>
          </p:cNvSpPr>
          <p:nvPr>
            <p:ph type="title"/>
          </p:nvPr>
        </p:nvSpPr>
        <p:spPr bwMode="auto">
          <a:xfrm>
            <a:off x="685800" y="764373"/>
            <a:ext cx="10820400" cy="1293028"/>
          </a:xfrm>
        </p:spPr>
        <p:txBody>
          <a:bodyPr/>
          <a:lstStyle/>
          <a:p>
            <a:pPr algn="l">
              <a:defRPr/>
            </a:pPr>
            <a:r>
              <a:rPr lang="sr-Latn-RS">
                <a:latin typeface="Tw Cen MT"/>
              </a:rPr>
              <a:t>Laravel</a:t>
            </a:r>
            <a:endParaRPr lang="en-US">
              <a:latin typeface="Tw Cen MT"/>
            </a:endParaRPr>
          </a:p>
        </p:txBody>
      </p:sp>
      <p:sp>
        <p:nvSpPr>
          <p:cNvPr id="208766983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PHP framework</a:t>
            </a:r>
            <a:endParaRPr/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Web aplikacije</a:t>
            </a:r>
            <a:endParaRPr/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MVC arhitektura</a:t>
            </a:r>
            <a:endParaRPr/>
          </a:p>
          <a:p>
            <a:pPr marL="0" indent="0">
              <a:buNone/>
              <a:defRPr/>
            </a:pPr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723064667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6000" y="1847427"/>
            <a:ext cx="4210756" cy="2737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420813" name="Title 1"/>
          <p:cNvSpPr>
            <a:spLocks noGrp="1"/>
          </p:cNvSpPr>
          <p:nvPr>
            <p:ph type="title"/>
          </p:nvPr>
        </p:nvSpPr>
        <p:spPr bwMode="auto">
          <a:xfrm>
            <a:off x="685800" y="764373"/>
            <a:ext cx="10820400" cy="1293028"/>
          </a:xfrm>
        </p:spPr>
        <p:txBody>
          <a:bodyPr/>
          <a:lstStyle/>
          <a:p>
            <a:pPr algn="l">
              <a:defRPr/>
            </a:pPr>
            <a:r>
              <a:rPr lang="en-US">
                <a:latin typeface="Tw Cen MT"/>
              </a:rPr>
              <a:t>React</a:t>
            </a:r>
            <a:endParaRPr/>
          </a:p>
        </p:txBody>
      </p:sp>
      <p:sp>
        <p:nvSpPr>
          <p:cNvPr id="1575786141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Komponentni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pristup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Virtuelni</a:t>
            </a:r>
            <a:r>
              <a:rPr lang="en-US" sz="2400">
                <a:latin typeface="Times New Roman"/>
                <a:cs typeface="Times New Roman"/>
              </a:rPr>
              <a:t> DOM</a:t>
            </a:r>
            <a:endParaRPr/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Široka podrška i zajednica</a:t>
            </a:r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39680455" name="Pictur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43074" y="2194560"/>
            <a:ext cx="5903494" cy="1896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305690" name="Title 1"/>
          <p:cNvSpPr>
            <a:spLocks noGrp="1"/>
          </p:cNvSpPr>
          <p:nvPr>
            <p:ph type="title"/>
          </p:nvPr>
        </p:nvSpPr>
        <p:spPr bwMode="auto">
          <a:xfrm>
            <a:off x="685800" y="764373"/>
            <a:ext cx="10820400" cy="1293028"/>
          </a:xfrm>
        </p:spPr>
        <p:txBody>
          <a:bodyPr/>
          <a:lstStyle/>
          <a:p>
            <a:pPr algn="l">
              <a:defRPr/>
            </a:pPr>
            <a:r>
              <a:rPr lang="sr-Latn-RS">
                <a:latin typeface="Tw Cen MT"/>
              </a:rPr>
              <a:t>Inertia js</a:t>
            </a:r>
            <a:endParaRPr lang="en-US">
              <a:latin typeface="Tw Cen MT"/>
            </a:endParaRPr>
          </a:p>
        </p:txBody>
      </p:sp>
      <p:sp>
        <p:nvSpPr>
          <p:cNvPr id="665243015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“Glue” – </a:t>
            </a:r>
            <a:r>
              <a:rPr lang="en-US" sz="2400">
                <a:latin typeface="Times New Roman"/>
                <a:cs typeface="Times New Roman"/>
              </a:rPr>
              <a:t>lepak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SPA bez </a:t>
            </a:r>
            <a:r>
              <a:rPr lang="en-US" sz="2400">
                <a:latin typeface="Times New Roman"/>
                <a:cs typeface="Times New Roman"/>
              </a:rPr>
              <a:t>potpuno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otvdvojenim</a:t>
            </a:r>
            <a:r>
              <a:rPr lang="en-US" sz="2400">
                <a:latin typeface="Times New Roman"/>
                <a:cs typeface="Times New Roman"/>
              </a:rPr>
              <a:t> API-</a:t>
            </a:r>
            <a:r>
              <a:rPr lang="en-US" sz="2400">
                <a:latin typeface="Times New Roman"/>
                <a:cs typeface="Times New Roman"/>
              </a:rPr>
              <a:t>jem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Jednostvanost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SEO </a:t>
            </a:r>
            <a:r>
              <a:rPr lang="en-US" sz="2400">
                <a:latin typeface="Times New Roman"/>
                <a:cs typeface="Times New Roman"/>
              </a:rPr>
              <a:t>i</a:t>
            </a:r>
            <a:r>
              <a:rPr lang="en-US" sz="2400">
                <a:latin typeface="Times New Roman"/>
                <a:cs typeface="Times New Roman"/>
              </a:rPr>
              <a:t> SSR </a:t>
            </a:r>
            <a:r>
              <a:rPr lang="en-US" sz="2400">
                <a:latin typeface="Times New Roman"/>
                <a:cs typeface="Times New Roman"/>
              </a:rPr>
              <a:t>podr</a:t>
            </a:r>
            <a:r>
              <a:rPr lang="sr-Latn-RS" sz="2400">
                <a:latin typeface="Times New Roman"/>
                <a:cs typeface="Times New Roman"/>
              </a:rPr>
              <a:t>ška</a:t>
            </a:r>
            <a:endParaRPr/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Brzina razvoja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504959" name="Title 1"/>
          <p:cNvSpPr>
            <a:spLocks noGrp="1"/>
          </p:cNvSpPr>
          <p:nvPr>
            <p:ph type="title"/>
          </p:nvPr>
        </p:nvSpPr>
        <p:spPr bwMode="auto">
          <a:xfrm>
            <a:off x="685800" y="764373"/>
            <a:ext cx="10820400" cy="1293028"/>
          </a:xfrm>
        </p:spPr>
        <p:txBody>
          <a:bodyPr/>
          <a:lstStyle/>
          <a:p>
            <a:pPr algn="l">
              <a:defRPr/>
            </a:pPr>
            <a:r>
              <a:rPr lang="en-US">
                <a:latin typeface="Tw Cen MT"/>
              </a:rPr>
              <a:t>Kori</a:t>
            </a:r>
            <a:r>
              <a:rPr lang="sr-Latn-RS">
                <a:latin typeface="Tw Cen MT"/>
              </a:rPr>
              <a:t>šćenje inertia js na Front-end strani</a:t>
            </a:r>
            <a:endParaRPr lang="en-US">
              <a:latin typeface="Tw Cen MT"/>
            </a:endParaRPr>
          </a:p>
        </p:txBody>
      </p:sp>
      <p:pic>
        <p:nvPicPr>
          <p:cNvPr id="1264139260" name="Content Placeholder 4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1799892" y="2193925"/>
            <a:ext cx="7857455" cy="4024312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2011259" name="Content Placeholder 8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1588169" y="689812"/>
            <a:ext cx="9577137" cy="5566610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2801541" name="Content Placeholder 4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1042282" y="554449"/>
            <a:ext cx="10524076" cy="5942604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964220" name="Title 1"/>
          <p:cNvSpPr>
            <a:spLocks noGrp="1"/>
          </p:cNvSpPr>
          <p:nvPr>
            <p:ph type="title"/>
          </p:nvPr>
        </p:nvSpPr>
        <p:spPr bwMode="auto">
          <a:xfrm>
            <a:off x="685800" y="764373"/>
            <a:ext cx="10820400" cy="1293028"/>
          </a:xfrm>
        </p:spPr>
        <p:txBody>
          <a:bodyPr/>
          <a:lstStyle/>
          <a:p>
            <a:pPr algn="l">
              <a:defRPr/>
            </a:pPr>
            <a:r>
              <a:rPr lang="sr-Latn-RS">
                <a:latin typeface="Tw Cen MT"/>
              </a:rPr>
              <a:t>Demostracija projekta</a:t>
            </a:r>
            <a:endParaRPr lang="en-US">
              <a:latin typeface="Tw Cen MT"/>
            </a:endParaRPr>
          </a:p>
        </p:txBody>
      </p:sp>
      <p:pic>
        <p:nvPicPr>
          <p:cNvPr id="1453447791" name="Content Placeholder 4"/>
          <p:cNvPicPr>
            <a:picLocks noChangeAspect="1" noGrp="1"/>
          </p:cNvPicPr>
          <p:nvPr>
            <p:ph idx="1"/>
          </p:nvPr>
        </p:nvPicPr>
        <p:blipFill rotWithShape="1">
          <a:blip r:embed="rId3"/>
          <a:stretch/>
        </p:blipFill>
        <p:spPr bwMode="auto">
          <a:xfrm>
            <a:off x="685800" y="1844843"/>
            <a:ext cx="10820398" cy="4748462"/>
          </a:xfr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656909" name="Title 1"/>
          <p:cNvSpPr>
            <a:spLocks noGrp="1"/>
          </p:cNvSpPr>
          <p:nvPr>
            <p:ph type="title"/>
          </p:nvPr>
        </p:nvSpPr>
        <p:spPr bwMode="auto">
          <a:xfrm>
            <a:off x="685800" y="764373"/>
            <a:ext cx="10820400" cy="1293028"/>
          </a:xfrm>
        </p:spPr>
        <p:txBody>
          <a:bodyPr/>
          <a:lstStyle/>
          <a:p>
            <a:pPr algn="l">
              <a:defRPr/>
            </a:pPr>
            <a:r>
              <a:rPr lang="en-US">
                <a:latin typeface="Tw Cen MT"/>
              </a:rPr>
              <a:t>Instalacija</a:t>
            </a:r>
            <a:r>
              <a:rPr lang="en-US">
                <a:latin typeface="Tw Cen MT"/>
              </a:rPr>
              <a:t> I </a:t>
            </a:r>
            <a:r>
              <a:rPr lang="en-US">
                <a:latin typeface="Tw Cen MT"/>
              </a:rPr>
              <a:t>pokretanje</a:t>
            </a:r>
            <a:r>
              <a:rPr lang="en-US">
                <a:latin typeface="Tw Cen MT"/>
              </a:rPr>
              <a:t> </a:t>
            </a:r>
            <a:r>
              <a:rPr lang="en-US">
                <a:latin typeface="Tw Cen MT"/>
              </a:rPr>
              <a:t>projekta</a:t>
            </a:r>
            <a:endParaRPr lang="en-US">
              <a:latin typeface="Tw Cen MT"/>
            </a:endParaRPr>
          </a:p>
        </p:txBody>
      </p:sp>
      <p:sp>
        <p:nvSpPr>
          <p:cNvPr id="114287611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XAMPP </a:t>
            </a:r>
            <a:r>
              <a:rPr lang="en-US" sz="2400">
                <a:latin typeface="Times New Roman"/>
                <a:cs typeface="Times New Roman"/>
              </a:rPr>
              <a:t> Apache </a:t>
            </a:r>
            <a:r>
              <a:rPr lang="en-US" sz="2400">
                <a:latin typeface="Times New Roman"/>
                <a:cs typeface="Times New Roman"/>
              </a:rPr>
              <a:t>i</a:t>
            </a:r>
            <a:r>
              <a:rPr lang="en-US" sz="2400">
                <a:latin typeface="Times New Roman"/>
                <a:cs typeface="Times New Roman"/>
              </a:rPr>
              <a:t> MySQL: </a:t>
            </a:r>
            <a:r>
              <a:rPr lang="en-US" sz="2400" u="sng">
                <a:latin typeface="Times New Roman"/>
                <a:cs typeface="Times New Roman"/>
                <a:hlinkClick r:id="rId3" tooltip=""/>
              </a:rPr>
              <a:t>https://www.apachefriends.org/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Node </a:t>
            </a:r>
            <a:r>
              <a:rPr lang="en-US" sz="2400">
                <a:latin typeface="Times New Roman"/>
                <a:cs typeface="Times New Roman"/>
              </a:rPr>
              <a:t>js</a:t>
            </a:r>
            <a:r>
              <a:rPr lang="en-US" sz="2400">
                <a:latin typeface="Times New Roman"/>
                <a:cs typeface="Times New Roman"/>
              </a:rPr>
              <a:t>: </a:t>
            </a:r>
            <a:endParaRPr/>
          </a:p>
          <a:p>
            <a:pPr marL="1371600" lvl="3" indent="0">
              <a:buNone/>
              <a:defRPr/>
            </a:pP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node –v    </a:t>
            </a:r>
            <a:r>
              <a:rPr lang="en-US" sz="2400">
                <a:latin typeface="Times New Roman"/>
                <a:cs typeface="Times New Roman"/>
              </a:rPr>
              <a:t>VS   : </a:t>
            </a:r>
            <a:r>
              <a:rPr lang="en-US" sz="2400" u="sng">
                <a:latin typeface="Times New Roman"/>
                <a:cs typeface="Times New Roman"/>
                <a:hlinkClick r:id="rId4" tooltip=""/>
              </a:rPr>
              <a:t>https://nodejs.org/en</a:t>
            </a:r>
            <a:endParaRPr lang="en-US" sz="2400">
              <a:latin typeface="Times New Roman"/>
              <a:cs typeface="Times New Roman"/>
            </a:endParaRPr>
          </a:p>
          <a:p>
            <a:pPr marL="1371600" lvl="3" indent="0">
              <a:buNone/>
              <a:defRPr/>
            </a:pP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npm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 –v</a:t>
            </a:r>
            <a:endParaRPr/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VS CODE: </a:t>
            </a:r>
            <a:r>
              <a:rPr lang="en-US" sz="2400" u="sng">
                <a:latin typeface="Times New Roman"/>
                <a:cs typeface="Times New Roman"/>
                <a:hlinkClick r:id="rId5" tooltip=""/>
              </a:rPr>
              <a:t>https://code.visualstudio.com/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Klonirati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reprozitorijum</a:t>
            </a:r>
            <a:r>
              <a:rPr lang="en-US" sz="2400">
                <a:latin typeface="Times New Roman"/>
                <a:cs typeface="Times New Roman"/>
              </a:rPr>
              <a:t>: </a:t>
            </a:r>
            <a:r>
              <a:rPr lang="en-US" sz="2400" u="sng">
                <a:latin typeface="Times New Roman"/>
                <a:cs typeface="Times New Roman"/>
                <a:hlinkClick r:id="rId6" tooltip=""/>
              </a:rPr>
              <a:t>https://github.com/DejanCumpujerovic/RentalCarApp.git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Pozicionirati</a:t>
            </a:r>
            <a:r>
              <a:rPr lang="en-US" sz="2400">
                <a:latin typeface="Times New Roman"/>
                <a:cs typeface="Times New Roman"/>
              </a:rPr>
              <a:t> se u </a:t>
            </a:r>
            <a:r>
              <a:rPr lang="en-US" sz="2400">
                <a:latin typeface="Times New Roman"/>
                <a:cs typeface="Times New Roman"/>
              </a:rPr>
              <a:t>direktorijumu</a:t>
            </a:r>
            <a:r>
              <a:rPr lang="en-US" sz="2400">
                <a:latin typeface="Times New Roman"/>
                <a:cs typeface="Times New Roman"/>
              </a:rPr>
              <a:t>: 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cd 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RentalCarApp</a:t>
            </a:r>
            <a:endParaRPr lang="en-US" sz="2400">
              <a:solidFill>
                <a:srgbClr val="FFFF00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2419583" name="Content Placeholder 2"/>
          <p:cNvSpPr>
            <a:spLocks noGrp="1"/>
          </p:cNvSpPr>
          <p:nvPr>
            <p:ph idx="1"/>
          </p:nvPr>
        </p:nvSpPr>
        <p:spPr bwMode="auto">
          <a:xfrm>
            <a:off x="685800" y="401054"/>
            <a:ext cx="10820400" cy="581763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Instaliranje</a:t>
            </a:r>
            <a:r>
              <a:rPr lang="en-US" sz="2400">
                <a:latin typeface="Times New Roman"/>
                <a:cs typeface="Times New Roman"/>
              </a:rPr>
              <a:t> composer-a: </a:t>
            </a:r>
            <a:r>
              <a:rPr lang="en-US" sz="2400" u="sng">
                <a:latin typeface="Times New Roman"/>
                <a:cs typeface="Times New Roman"/>
                <a:hlinkClick r:id="rId3" tooltip=""/>
              </a:rPr>
              <a:t>https://getcomposer.org/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Instaliranje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laravela</a:t>
            </a:r>
            <a:r>
              <a:rPr lang="en-US" sz="2400">
                <a:latin typeface="Times New Roman"/>
                <a:cs typeface="Times New Roman"/>
              </a:rPr>
              <a:t>: 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composer global require 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laravel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/installer</a:t>
            </a:r>
            <a:endParaRPr/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Instaliranje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zavisnosti</a:t>
            </a:r>
            <a:r>
              <a:rPr lang="en-US" sz="2400">
                <a:latin typeface="Times New Roman"/>
                <a:cs typeface="Times New Roman"/>
              </a:rPr>
              <a:t>: 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composer install</a:t>
            </a:r>
            <a:endParaRPr/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Postavljanje</a:t>
            </a:r>
            <a:r>
              <a:rPr lang="en-US" sz="2400">
                <a:latin typeface="Times New Roman"/>
                <a:cs typeface="Times New Roman"/>
              </a:rPr>
              <a:t> .env </a:t>
            </a:r>
            <a:r>
              <a:rPr lang="en-US" sz="2400">
                <a:latin typeface="Times New Roman"/>
                <a:cs typeface="Times New Roman"/>
              </a:rPr>
              <a:t>fajla</a:t>
            </a:r>
            <a:r>
              <a:rPr lang="en-US" sz="2400">
                <a:latin typeface="Times New Roman"/>
                <a:cs typeface="Times New Roman"/>
              </a:rPr>
              <a:t>: </a:t>
            </a:r>
            <a:endParaRPr/>
          </a:p>
          <a:p>
            <a:pPr lvl="7">
              <a:defRPr/>
            </a:pP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cp .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env.example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 .env</a:t>
            </a:r>
            <a:endParaRPr/>
          </a:p>
          <a:p>
            <a:pPr lvl="7">
              <a:defRPr/>
            </a:pPr>
            <a:r>
              <a:rPr lang="en-US" sz="2400">
                <a:latin typeface="Times New Roman"/>
                <a:cs typeface="Times New Roman"/>
              </a:rPr>
              <a:t>podesiti</a:t>
            </a:r>
            <a:r>
              <a:rPr lang="en-US" sz="2400">
                <a:latin typeface="Times New Roman"/>
                <a:cs typeface="Times New Roman"/>
              </a:rPr>
              <a:t> u env </a:t>
            </a:r>
            <a:r>
              <a:rPr lang="en-US" sz="2400">
                <a:latin typeface="Times New Roman"/>
                <a:cs typeface="Times New Roman"/>
              </a:rPr>
              <a:t>fajlu</a:t>
            </a:r>
            <a:r>
              <a:rPr lang="en-US" sz="2400">
                <a:latin typeface="Times New Roman"/>
                <a:cs typeface="Times New Roman"/>
              </a:rPr>
              <a:t>:</a:t>
            </a:r>
            <a:endParaRPr/>
          </a:p>
          <a:p>
            <a:pPr lvl="8">
              <a:defRPr/>
            </a:pPr>
            <a:r>
              <a:rPr lang="en-US" sz="2400">
                <a:latin typeface="Times New Roman"/>
                <a:cs typeface="Times New Roman"/>
              </a:rPr>
              <a:t>DB_DATABASE=</a:t>
            </a:r>
            <a:r>
              <a:rPr lang="en-US" sz="2400">
                <a:latin typeface="Times New Roman"/>
                <a:cs typeface="Times New Roman"/>
              </a:rPr>
              <a:t>rentalCar</a:t>
            </a:r>
            <a:endParaRPr lang="en-US" sz="2400">
              <a:latin typeface="Times New Roman"/>
              <a:cs typeface="Times New Roman"/>
            </a:endParaRPr>
          </a:p>
          <a:p>
            <a:pPr lvl="8">
              <a:defRPr/>
            </a:pPr>
            <a:r>
              <a:rPr lang="en-US" sz="2400">
                <a:latin typeface="Times New Roman"/>
                <a:cs typeface="Times New Roman"/>
              </a:rPr>
              <a:t>DB_USERNAME=root</a:t>
            </a:r>
            <a:endParaRPr/>
          </a:p>
          <a:p>
            <a:pPr lvl="8">
              <a:defRPr/>
            </a:pPr>
            <a:r>
              <a:rPr lang="en-US" sz="2400">
                <a:latin typeface="Times New Roman"/>
                <a:cs typeface="Times New Roman"/>
              </a:rPr>
              <a:t>DB_PASSWORD=</a:t>
            </a:r>
            <a:endParaRPr/>
          </a:p>
          <a:p>
            <a:pPr marL="3657600" lvl="8" indent="0">
              <a:buNone/>
              <a:defRPr/>
            </a:pP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668930" name="Content Placeholder 2"/>
          <p:cNvSpPr>
            <a:spLocks noGrp="1"/>
          </p:cNvSpPr>
          <p:nvPr>
            <p:ph idx="1"/>
          </p:nvPr>
        </p:nvSpPr>
        <p:spPr bwMode="auto">
          <a:xfrm>
            <a:off x="685800" y="497306"/>
            <a:ext cx="10820400" cy="57213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Generisati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aplikacioni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klju</a:t>
            </a:r>
            <a:r>
              <a:rPr lang="sr-Latn-RS" sz="2400">
                <a:latin typeface="Times New Roman"/>
                <a:cs typeface="Times New Roman"/>
              </a:rPr>
              <a:t>č</a:t>
            </a:r>
            <a:r>
              <a:rPr lang="en-US" sz="2400">
                <a:latin typeface="Times New Roman"/>
                <a:cs typeface="Times New Roman"/>
              </a:rPr>
              <a:t>: 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php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 artisan 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key:generate</a:t>
            </a:r>
            <a:endParaRPr lang="en-US" sz="2400">
              <a:solidFill>
                <a:srgbClr val="FFFF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Pokretanje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migracije</a:t>
            </a:r>
            <a:r>
              <a:rPr lang="en-US" sz="2400">
                <a:latin typeface="Times New Roman"/>
                <a:cs typeface="Times New Roman"/>
              </a:rPr>
              <a:t>: 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php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 artisan migrate</a:t>
            </a:r>
            <a:endParaRPr/>
          </a:p>
          <a:p>
            <a:pPr>
              <a:defRPr/>
            </a:pP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Pokretanje</a:t>
            </a:r>
            <a:r>
              <a:rPr lang="en-US" sz="2400">
                <a:latin typeface="Times New Roman"/>
                <a:cs typeface="Times New Roman"/>
              </a:rPr>
              <a:t> Laravel </a:t>
            </a:r>
            <a:r>
              <a:rPr lang="en-US" sz="2400">
                <a:latin typeface="Times New Roman"/>
                <a:cs typeface="Times New Roman"/>
              </a:rPr>
              <a:t>servera</a:t>
            </a:r>
            <a:r>
              <a:rPr lang="en-US" sz="2400">
                <a:latin typeface="Times New Roman"/>
                <a:cs typeface="Times New Roman"/>
              </a:rPr>
              <a:t>: 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php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 artisan serve</a:t>
            </a:r>
            <a:endParaRPr/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Pokretanje</a:t>
            </a:r>
            <a:r>
              <a:rPr lang="en-US" sz="2400">
                <a:latin typeface="Times New Roman"/>
                <a:cs typeface="Times New Roman"/>
              </a:rPr>
              <a:t> React: 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npm</a:t>
            </a:r>
            <a:r>
              <a:rPr lang="en-US" sz="2400">
                <a:solidFill>
                  <a:srgbClr val="FFFF00"/>
                </a:solidFill>
                <a:latin typeface="Times New Roman"/>
                <a:cs typeface="Times New Roman"/>
              </a:rPr>
              <a:t> run dev</a:t>
            </a:r>
            <a:endParaRPr/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Unos</a:t>
            </a:r>
            <a:r>
              <a:rPr lang="en-US" sz="2400">
                <a:latin typeface="Times New Roman"/>
                <a:cs typeface="Times New Roman"/>
              </a:rPr>
              <a:t> u web </a:t>
            </a:r>
            <a:r>
              <a:rPr lang="en-US" sz="2400">
                <a:latin typeface="Times New Roman"/>
                <a:cs typeface="Times New Roman"/>
              </a:rPr>
              <a:t>pretra</a:t>
            </a:r>
            <a:r>
              <a:rPr lang="sr-Latn-RS" sz="2400">
                <a:latin typeface="Times New Roman"/>
                <a:cs typeface="Times New Roman"/>
              </a:rPr>
              <a:t>živač</a:t>
            </a:r>
            <a:r>
              <a:rPr lang="en-US" sz="2400">
                <a:latin typeface="Times New Roman"/>
                <a:cs typeface="Times New Roman"/>
              </a:rPr>
              <a:t>: </a:t>
            </a:r>
            <a:r>
              <a:rPr lang="en-US" sz="2400" u="sng">
                <a:latin typeface="Times New Roman"/>
                <a:cs typeface="Times New Roman"/>
                <a:hlinkClick r:id="rId3" tooltip=""/>
              </a:rPr>
              <a:t>http://127.0.0.1:8000/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974036" name="Title 1"/>
          <p:cNvSpPr>
            <a:spLocks noGrp="1"/>
          </p:cNvSpPr>
          <p:nvPr>
            <p:ph type="title"/>
          </p:nvPr>
        </p:nvSpPr>
        <p:spPr bwMode="auto">
          <a:xfrm>
            <a:off x="685800" y="764373"/>
            <a:ext cx="10820400" cy="1293028"/>
          </a:xfrm>
        </p:spPr>
        <p:txBody>
          <a:bodyPr/>
          <a:lstStyle/>
          <a:p>
            <a:pPr algn="l">
              <a:defRPr/>
            </a:pPr>
            <a:r>
              <a:rPr lang="sr-Latn-RS">
                <a:latin typeface="Tw Cen MT"/>
              </a:rPr>
              <a:t>Zaključak</a:t>
            </a:r>
            <a:endParaRPr lang="en-US">
              <a:latin typeface="Tw Cen MT"/>
            </a:endParaRPr>
          </a:p>
        </p:txBody>
      </p:sp>
      <p:sp>
        <p:nvSpPr>
          <p:cNvPr id="658290453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Inertia </a:t>
            </a:r>
            <a:r>
              <a:rPr lang="en-US" sz="2400">
                <a:latin typeface="Times New Roman"/>
                <a:cs typeface="Times New Roman"/>
              </a:rPr>
              <a:t>js</a:t>
            </a:r>
            <a:r>
              <a:rPr lang="en-US" sz="2400">
                <a:latin typeface="Times New Roman"/>
                <a:cs typeface="Times New Roman"/>
              </a:rPr>
              <a:t>  VS fetch API</a:t>
            </a:r>
            <a:endParaRPr/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Manje </a:t>
            </a:r>
            <a:r>
              <a:rPr lang="en-US" sz="2400">
                <a:latin typeface="Times New Roman"/>
                <a:cs typeface="Times New Roman"/>
              </a:rPr>
              <a:t>koda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sr-Latn-RS" sz="2400">
                <a:latin typeface="Times New Roman"/>
                <a:cs typeface="Times New Roman"/>
              </a:rPr>
              <a:t>Jednostavnost i funkcionalnost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Brz</a:t>
            </a:r>
            <a:r>
              <a:rPr lang="en-US" sz="2400">
                <a:latin typeface="Times New Roman"/>
                <a:cs typeface="Times New Roman"/>
              </a:rPr>
              <a:t> </a:t>
            </a:r>
            <a:r>
              <a:rPr lang="en-US" sz="2400">
                <a:latin typeface="Times New Roman"/>
                <a:cs typeface="Times New Roman"/>
              </a:rPr>
              <a:t>razvoj</a:t>
            </a:r>
            <a:endParaRPr lang="en-US" sz="24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400">
                <a:latin typeface="Times New Roman"/>
                <a:cs typeface="Times New Roman"/>
              </a:rPr>
              <a:t>L</a:t>
            </a:r>
            <a:r>
              <a:rPr lang="sr-Latn-RS" sz="2400">
                <a:latin typeface="Times New Roman"/>
                <a:cs typeface="Times New Roman"/>
              </a:rPr>
              <a:t>akše održavanje</a:t>
            </a:r>
            <a:endParaRPr lang="en-US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832844" name="Title 1"/>
          <p:cNvSpPr>
            <a:spLocks noGrp="1"/>
          </p:cNvSpPr>
          <p:nvPr>
            <p:ph type="title"/>
          </p:nvPr>
        </p:nvSpPr>
        <p:spPr bwMode="auto">
          <a:xfrm>
            <a:off x="685800" y="764373"/>
            <a:ext cx="10820400" cy="5492048"/>
          </a:xfrm>
        </p:spPr>
        <p:txBody>
          <a:bodyPr/>
          <a:lstStyle/>
          <a:p>
            <a:pPr>
              <a:defRPr/>
            </a:pPr>
            <a:r>
              <a:rPr lang="sr-Latn-RS">
                <a:latin typeface="Tw Cen MT"/>
              </a:rPr>
              <a:t>Hvala na pažnji</a:t>
            </a:r>
            <a:endParaRPr lang="en-US">
              <a:latin typeface="Tw Cen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Vapor Trail">
      <a:fillStyleLst>
        <a:solidFill>
          <a:schemeClr val="phClr"/>
        </a:solidFill>
        <a:gradFill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0</TotalTime>
  <Words>0</Words>
  <Application>ONLYOFFICE/9.2.1.43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dejancumpujerovic</dc:creator>
  <cp:lastModifiedBy/>
  <cp:revision>30</cp:revision>
  <dcterms:created xsi:type="dcterms:W3CDTF">2024-12-25T20:43:03Z</dcterms:created>
  <dcterms:modified xsi:type="dcterms:W3CDTF">2026-01-25T16:32:06Z</dcterms:modified>
</cp:coreProperties>
</file>